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25" r:id="rId1"/>
  </p:sldMasterIdLst>
  <p:notesMasterIdLst>
    <p:notesMasterId r:id="rId26"/>
  </p:notesMasterIdLst>
  <p:sldIdLst>
    <p:sldId id="27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78" r:id="rId13"/>
    <p:sldId id="267" r:id="rId14"/>
    <p:sldId id="268" r:id="rId15"/>
    <p:sldId id="269" r:id="rId16"/>
    <p:sldId id="279" r:id="rId17"/>
    <p:sldId id="280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12192000"/>
  <p:embeddedFontLst>
    <p:embeddedFont>
      <p:font typeface="Algerian" panose="04020705040A02060702" pitchFamily="82" charset="0"/>
      <p:regular r:id="rId27"/>
    </p:embeddedFont>
    <p:embeddedFont>
      <p:font typeface="JasmineUPC" panose="02020603050405020304" pitchFamily="18" charset="-34"/>
      <p:regular r:id="rId28"/>
      <p:bold r:id="rId29"/>
      <p:italic r:id="rId30"/>
      <p:boldItalic r:id="rId31"/>
    </p:embeddedFont>
    <p:embeddedFont>
      <p:font typeface="Raleway" pitchFamily="2" charset="0"/>
      <p:regular r:id="rId32"/>
      <p:bold r:id="rId33"/>
      <p:italic r:id="rId34"/>
      <p:boldItalic r:id="rId35"/>
    </p:embeddedFont>
    <p:embeddedFont>
      <p:font typeface="Roboto" panose="02000000000000000000" pitchFamily="2" charset="0"/>
      <p:regular r:id="rId36"/>
      <p:bold r:id="rId37"/>
      <p:italic r:id="rId38"/>
      <p:boldItalic r:id="rId39"/>
    </p:embeddedFont>
    <p:embeddedFont>
      <p:font typeface="Roboto Bold" panose="02000000000000000000" charset="0"/>
      <p:regular r:id="rId40"/>
    </p:embeddedFont>
    <p:embeddedFont>
      <p:font typeface="Roboto Slab" pitchFamily="2" charset="0"/>
      <p:regular r:id="rId41"/>
      <p:bold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2688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7DAF3-9246-0D4F-1EB2-07A165A1A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6EE3FB-9B71-8A3A-B933-33C55416D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7037EC-CE52-63E4-7E69-92A2DFEE7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546C6-113B-CDB4-06C3-DB0DA384CF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2102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246993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5499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1962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FA43F5B-065E-43CE-B3FD-98C48A6F94D7}" type="datetime1">
              <a:rPr lang="en-US" smtClean="0"/>
              <a:t>9/27/2026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047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319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8562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024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6565157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288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061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693084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643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3683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05863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7441439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715316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6924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0170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2086748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178239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6066622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6214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714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65320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9078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2216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676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3552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183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  <p:sldLayoutId id="2147483842" r:id="rId17"/>
    <p:sldLayoutId id="2147483843" r:id="rId18"/>
    <p:sldLayoutId id="2147483844" r:id="rId19"/>
    <p:sldLayoutId id="2147483845" r:id="rId20"/>
    <p:sldLayoutId id="2147483846" r:id="rId21"/>
    <p:sldLayoutId id="2147483847" r:id="rId22"/>
    <p:sldLayoutId id="2147483848" r:id="rId23"/>
    <p:sldLayoutId id="2147483849" r:id="rId24"/>
    <p:sldLayoutId id="2147483850" r:id="rId25"/>
    <p:sldLayoutId id="2147483851" r:id="rId26"/>
    <p:sldLayoutId id="2147483852" r:id="rId27"/>
    <p:sldLayoutId id="2147483853" r:id="rId28"/>
  </p:sldLayoutIdLst>
  <p:hf sldNum="0" hdr="0" ftr="0" dt="0"/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27AF8F-0197-AB8C-D9D3-D605597CB07E}"/>
              </a:ext>
            </a:extLst>
          </p:cNvPr>
          <p:cNvSpPr/>
          <p:nvPr/>
        </p:nvSpPr>
        <p:spPr>
          <a:xfrm>
            <a:off x="836762" y="672860"/>
            <a:ext cx="10679502" cy="547777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rgbClr val="00206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EA  SPORTS </a:t>
            </a:r>
          </a:p>
          <a:p>
            <a:pPr algn="ctr"/>
            <a:r>
              <a:rPr lang="en-US" sz="7200" b="1" dirty="0">
                <a:solidFill>
                  <a:srgbClr val="00206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ASSIGNMENT</a:t>
            </a:r>
            <a:endParaRPr lang="en-IN" sz="7200" b="1" dirty="0">
              <a:solidFill>
                <a:srgbClr val="00206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B3F94A-45E1-6FDC-AFC8-27AFD727917B}"/>
              </a:ext>
            </a:extLst>
          </p:cNvPr>
          <p:cNvSpPr txBox="1"/>
          <p:nvPr/>
        </p:nvSpPr>
        <p:spPr>
          <a:xfrm>
            <a:off x="9144000" y="5116373"/>
            <a:ext cx="1913281" cy="584775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-PRIYA P</a:t>
            </a:r>
          </a:p>
        </p:txBody>
      </p:sp>
    </p:spTree>
    <p:extLst>
      <p:ext uri="{BB962C8B-B14F-4D97-AF65-F5344CB8AC3E}">
        <p14:creationId xmlns:p14="http://schemas.microsoft.com/office/powerpoint/2010/main" val="717462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15963"/>
            <a:ext cx="2418297" cy="287139"/>
          </a:xfrm>
          <a:prstGeom prst="roundRect">
            <a:avLst>
              <a:gd name="adj" fmla="val 7899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572617"/>
            <a:ext cx="280107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READOUT · PRODUCT DIRECTOR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78707"/>
            <a:ext cx="10868745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Revenue is up ~3×. The ARPDAU drop is a change in player mix, not a monetisation problem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934123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ARPDAU fell 16% (Jan → Apr), but ARPDAU rose in every country tier (+4% to +13%)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Cause: a March paid_video push into Tier-4 countries. Tier 4 went from 18% to 46% of daily players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question: does that campaign cost less than ~$1.14 per install?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Also: channels don't really differ once country is accounted for; churn is predictable, but offers must be tested first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170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Every tier's ARPDAU went up, yet the overall went down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23876"/>
            <a:ext cx="10868745" cy="45983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079232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January's tier mix, April ARPDAU would be $0.382, which is +8%, not −16%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748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Tier-4 video campaign roughly tripled installs from March</a:t>
            </a:r>
            <a:endParaRPr lang="en-US" sz="3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511048"/>
              </p:ext>
            </p:extLst>
          </p:nvPr>
        </p:nvGraphicFramePr>
        <p:xfrm>
          <a:off x="1026544" y="2631059"/>
          <a:ext cx="9445925" cy="1449236"/>
        </p:xfrm>
        <a:graphic>
          <a:graphicData uri="http://schemas.openxmlformats.org/drawingml/2006/table">
            <a:tbl>
              <a:tblPr/>
              <a:tblGrid>
                <a:gridCol w="1889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9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91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2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3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0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661475" y="4883051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are normal Tier-4 players: $1.14 per install in 30 days vs $1.02 for Tier-4 organic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grew from $29k (Jan 1–30) to $84k (Apr 1–30)</a:t>
            </a:r>
            <a:endParaRPr lang="en-US" sz="1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2620D6-3E00-BFE0-99E5-1F976B0263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20"/>
          <a:stretch>
            <a:fillRect/>
          </a:stretch>
        </p:blipFill>
        <p:spPr>
          <a:xfrm>
            <a:off x="541671" y="2544791"/>
            <a:ext cx="11381388" cy="15355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8343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Don't "fix" monetisation. Check what the Tier-4 campaign costs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142754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4" name="Text 2"/>
          <p:cNvSpPr/>
          <p:nvPr/>
        </p:nvSpPr>
        <p:spPr>
          <a:xfrm>
            <a:off x="732365" y="317817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5723" y="3207643"/>
            <a:ext cx="2851178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Don't change pricing or sales to chase blended ARPDAU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4363135" y="3142754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7" name="Text 5"/>
          <p:cNvSpPr/>
          <p:nvPr/>
        </p:nvSpPr>
        <p:spPr>
          <a:xfrm>
            <a:off x="4434025" y="317817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77383" y="3207643"/>
            <a:ext cx="2851178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Report ARPDAU per tier (or at a fixed mix) from now on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064794" y="3142754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0" name="Text 8"/>
          <p:cNvSpPr/>
          <p:nvPr/>
        </p:nvSpPr>
        <p:spPr>
          <a:xfrm>
            <a:off x="8135684" y="317817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79042" y="3207643"/>
            <a:ext cx="2851178" cy="206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Ask UA for cost per install by tier × channel. Keep the campaign only if CPI &lt; ~$1.14 (30-day payback); if higher, it breaks the "no extra marketing spend" goal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495"/>
            <a:ext cx="10868745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paid_video isn't worse. It just buys players in cheaper countries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68872"/>
            <a:ext cx="6460467" cy="36340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543252"/>
            <a:ext cx="10868745" cy="755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gap (paid_video $1.54 vs organic $2.48) is an artefact: 65% of paid_video installs are Tier 4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the same tier mix: +$0.17, CI −0.14 to +0.49, </a:t>
            </a:r>
            <a:r>
              <a:rPr 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not significant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Proving it would need ~59k installs per channel (we have ~11k)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Engagement gap is significant but tiny (0.1–0.3 days a month), so it's </a:t>
            </a:r>
            <a:r>
              <a:rPr 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not a reason to move budget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Decide by tier × channel vs CPI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9417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 can predict who will lapse, but 92% of lapsers come back on their own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353495"/>
            <a:ext cx="10868745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Churn = no play in the next 14 days (for players active in the last 7)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Logistic regression, trained Feb–Mar 8 and tested Mar 29–Apr 16: AUC 0.73; top 10% riskiest lapse 46% vs 4% for the bottom 10%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 an offer only if p(churn) × save rate × player value &gt; offer cost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a holdout test first (offer to half of high-risk players), because most would return anyway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4538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Retention is steady, the ad cap isn't binding, and two data issues had to be fixed first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504704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Retention D1 47% / D7 25% / D30 14%, the same in every weekly cohort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iOS player worth 2× Android ($0.50 vs $0.25 ARPDAU); top 10% of players = 96% of revenue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1% of ad-watching days hit the cap, so raising it won't add views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fixes: ad clock was 8h ahead (unmatched views 271,176 → 0); ad logging outage Mar 5–6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792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Uncertainty, what I dropped, next steps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153345"/>
            <a:ext cx="5476043" cy="3425428"/>
          </a:xfrm>
          <a:prstGeom prst="roundRect">
            <a:avLst>
              <a:gd name="adj" fmla="val 828"/>
            </a:avLst>
          </a:prstGeom>
          <a:solidFill>
            <a:srgbClr val="3257B8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342356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Missing data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2826643"/>
            <a:ext cx="509802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per install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 save rate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 revenue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14357" y="4055070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Uncertain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4357" y="4539357"/>
            <a:ext cx="5098029" cy="973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30-day revenue understates lifetime value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 may only shift </a:t>
            </a:r>
            <a:r>
              <a:rPr lang="en-US" sz="145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</a:t>
            </a: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people buy (8 sales, 15 days apart = the median repeat-purchase gap)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234235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Dropped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32776" y="2826643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 4b (optional). Only installs up to Jan 30 have 90 days of data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3620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Next week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32776" y="4104779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sales pull-forward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Holdout test for churn offers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4b with a longer window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253" y="862303"/>
            <a:ext cx="946027" cy="287139"/>
          </a:xfrm>
          <a:prstGeom prst="roundRect">
            <a:avLst>
              <a:gd name="adj" fmla="val 7899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593724" y="918956"/>
            <a:ext cx="132880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APPENDIX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64935" y="217363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 2: Data Quality &amp; Analysis Evidence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338423"/>
            <a:ext cx="10868745" cy="1011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Supporting SQL outputs, validation tables, and model diagnostics for the full data-quality audit. Each card maps to a specific source file and question number.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4952"/>
            <a:ext cx="1870921" cy="255786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477" y="615454"/>
            <a:ext cx="2278502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A1 · 01_DATA_QUALITY.SQL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80666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Data-Quality Issues &amp; Handling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1631553"/>
            <a:ext cx="1086874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Nine issue categories were identified and resolved during preprocessing. The table below documents each issue type, row count, and the handling decision applied.</a:t>
            </a:r>
          </a:p>
          <a:p>
            <a:pPr marL="0" indent="0" algn="l">
              <a:lnSpc>
                <a:spcPct val="126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9F531B-C374-9FB0-4C0E-7BA549308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928" y="2313272"/>
            <a:ext cx="6693244" cy="42737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2952970-672D-E387-3FE6-2CB9F3ADE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526" y="1245751"/>
            <a:ext cx="8880947" cy="450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903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34107"/>
            <a:ext cx="3597086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690761"/>
            <a:ext cx="397986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A2 · 01_DATA_QUALITY.SQL — SECTIONS 8A, 8A-2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9685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the Ad Clock Shift Is Exactly 8 Hours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83594"/>
            <a:ext cx="6110135" cy="39275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39117" y="2260104"/>
            <a:ext cx="429735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Validation Logic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239117" y="2744391"/>
            <a:ext cx="429735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other table has events only between 06:00 and 23:59. Raw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ad_view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14:00-07:59: the same 18-hour window moved +8h. Shifts of 8-12h all match ad views to active days 100%, but only 8h puts the first ad event at 06:00 like every other table. After the fix, unmatched ad views drop from 271,176 to 0.</a:t>
            </a:r>
          </a:p>
        </p:txBody>
      </p:sp>
      <p:sp>
        <p:nvSpPr>
          <p:cNvPr id="8" name="Shape 5"/>
          <p:cNvSpPr/>
          <p:nvPr/>
        </p:nvSpPr>
        <p:spPr>
          <a:xfrm>
            <a:off x="7239117" y="4771529"/>
            <a:ext cx="4297354" cy="1039416"/>
          </a:xfrm>
          <a:prstGeom prst="roundRect">
            <a:avLst>
              <a:gd name="adj" fmla="val 2728"/>
            </a:avLst>
          </a:prstGeom>
          <a:solidFill>
            <a:srgbClr val="D7DFF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124" y="5058271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81026" y="4988818"/>
            <a:ext cx="356643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ad timestamps were shifted back by 8 hours (-8h) before joining to gameplay tables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2784"/>
            <a:ext cx="1497273" cy="273645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9521" y="576759"/>
            <a:ext cx="1890764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A3 · QUESTION 1(A)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65088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Daily Health: Active Users &amp; Revenue Sanity Check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2773363"/>
            <a:ext cx="464917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Definition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61475" y="3226495"/>
            <a:ext cx="4649175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Active = play or purchase.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Linked devices are merged to avoid double-counting. Platform-level breakdowns and a grand-total sanity check confirm data completeness.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1475" y="4264124"/>
            <a:ext cx="4649175" cy="961827"/>
          </a:xfrm>
          <a:prstGeom prst="roundRect">
            <a:avLst>
              <a:gd name="adj" fmla="val 2810"/>
            </a:avLst>
          </a:prstGeom>
          <a:solidFill>
            <a:srgbClr val="B6FCB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52" y="4519910"/>
            <a:ext cx="225122" cy="1800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46752" y="4463554"/>
            <a:ext cx="388382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Grand-total revenue: </a:t>
            </a:r>
            <a:r>
              <a:rPr lang="en-US" sz="14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$217,593.22</a:t>
            </a: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matches source-of-truth ledger.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260" y="1878905"/>
            <a:ext cx="5180379" cy="42630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4952"/>
            <a:ext cx="1394584" cy="255786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477" y="615454"/>
            <a:ext cx="1802164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A4 · QUESTION 1(B)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80666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Retention Grid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1631553"/>
            <a:ext cx="1086874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6000"/>
              </a:lnSpc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cohort-by-day retention matrix. Blank-cell rule: a cell is left blank (NULL) unless every player in that install week has reached day N by Apr 30. Showing 0% would wrongly suggest everyone quit; a partial % would mix players who had time to return with players who did not.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09416"/>
            <a:ext cx="4898307" cy="398353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A76B5-6B54-A243-B50C-F6332BBB0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834B4B-235B-79A4-43C7-6E98BD73A850}"/>
              </a:ext>
            </a:extLst>
          </p:cNvPr>
          <p:cNvSpPr/>
          <p:nvPr/>
        </p:nvSpPr>
        <p:spPr>
          <a:xfrm>
            <a:off x="661475" y="564952"/>
            <a:ext cx="1394584" cy="255786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FCF6FC-A210-767D-9898-FDEBD07BC63B}"/>
              </a:ext>
            </a:extLst>
          </p:cNvPr>
          <p:cNvSpPr/>
          <p:nvPr/>
        </p:nvSpPr>
        <p:spPr>
          <a:xfrm>
            <a:off x="762477" y="615454"/>
            <a:ext cx="1802164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A5 · QUESTION 1(c)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644A3C-E254-98FE-086B-2F65BC1F1A1E}"/>
              </a:ext>
            </a:extLst>
          </p:cNvPr>
          <p:cNvSpPr/>
          <p:nvPr/>
        </p:nvSpPr>
        <p:spPr>
          <a:xfrm>
            <a:off x="661475" y="880666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SPENDER BEHAVIOUR</a:t>
            </a:r>
            <a:endParaRPr lang="en-US" sz="3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7228273-D46E-6E8E-FC37-2A595F32FAF3}"/>
              </a:ext>
            </a:extLst>
          </p:cNvPr>
          <p:cNvSpPr/>
          <p:nvPr/>
        </p:nvSpPr>
        <p:spPr>
          <a:xfrm>
            <a:off x="661475" y="1631553"/>
            <a:ext cx="1086874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6000"/>
              </a:lnSpc>
            </a:pP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9A5C26-CB54-E1F5-9CDE-00F613648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77" y="1631553"/>
            <a:ext cx="5715961" cy="45595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4F08FC-8700-04FB-B0E0-A3A5AF60E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529" y="1660986"/>
            <a:ext cx="5410478" cy="417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684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F83761-A11B-BE0F-8624-6E1872628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12" y="1431983"/>
            <a:ext cx="10843908" cy="379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50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4179"/>
            <a:ext cx="813177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630833"/>
            <a:ext cx="119595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A6· 1(D)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369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 Engagement: Daily ad views: flat per player;</a:t>
            </a:r>
          </a:p>
          <a:p>
            <a:pPr>
              <a:lnSpc>
                <a:spcPct val="100000"/>
              </a:lnSpc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Mar 5-6 logging outage</a:t>
            </a:r>
            <a:endParaRPr lang="en-IN" sz="3200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607" y="2239334"/>
            <a:ext cx="6769427" cy="43078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4179"/>
            <a:ext cx="813177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630833"/>
            <a:ext cx="119595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A6 · 1(D)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369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3200" b="1" dirty="0">
                <a:solidFill>
                  <a:srgbClr val="002060"/>
                </a:solidFill>
              </a:rPr>
              <a:t>Only 1% of ad-watching days hit the cap</a:t>
            </a:r>
          </a:p>
          <a:p>
            <a:r>
              <a:rPr lang="en-US" sz="3200" b="1" dirty="0">
                <a:solidFill>
                  <a:srgbClr val="002060"/>
                </a:solidFill>
              </a:rPr>
              <a:t> - the cap is not binding</a:t>
            </a: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52580"/>
            <a:ext cx="5434525" cy="40932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305D76-9BAF-67B6-04FA-B29A67D86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268" y="2052580"/>
            <a:ext cx="6134415" cy="39118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6683B2-8A8F-5154-D298-BA3EB08729F6}"/>
              </a:ext>
            </a:extLst>
          </p:cNvPr>
          <p:cNvSpPr txBox="1"/>
          <p:nvPr/>
        </p:nvSpPr>
        <p:spPr>
          <a:xfrm>
            <a:off x="661475" y="6145828"/>
            <a:ext cx="8545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to tell the product team: cap-5 and cap-8 players make the same number of attempts,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raising the cap will not add views. Improve rewards or ad placements instead.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46361"/>
            <a:ext cx="812581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103015"/>
            <a:ext cx="119535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A7 · 2(A)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091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700" b="1" dirty="0">
                <a:solidFill>
                  <a:srgbClr val="0070C0"/>
                </a:solidFill>
              </a:rPr>
              <a:t>ARPDAU by country tier and mix decomposition</a:t>
            </a: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95848"/>
            <a:ext cx="5543610" cy="310306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981" y="2495848"/>
            <a:ext cx="4887923" cy="317170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5920"/>
            <a:ext cx="609684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752574"/>
            <a:ext cx="99246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A8 ·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586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Channel Attribution: Raw Data &amp; Tier Mix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45407"/>
            <a:ext cx="6903269" cy="38039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33" y="377706"/>
            <a:ext cx="609684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0087" y="434359"/>
            <a:ext cx="99246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A8 ·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0896" y="8503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Tier-adjusted channel differences with 95% CIs</a:t>
            </a: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1321"/>
            <a:ext cx="5741296" cy="305535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663" y="3017638"/>
            <a:ext cx="5717907" cy="11834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2883"/>
            <a:ext cx="581110" cy="273645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9521" y="576858"/>
            <a:ext cx="974601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A9 ·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65188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Churn Model: Dataset Setup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870" y="1879005"/>
            <a:ext cx="5035920" cy="42629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82BD1F-ED6D-0B55-18DB-73FF9D1E3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000" y="3095608"/>
            <a:ext cx="4858000" cy="66678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9997"/>
            <a:ext cx="609684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666651"/>
            <a:ext cx="99246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A9 ·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727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Churn Model: </a:t>
            </a:r>
            <a:r>
              <a:rPr lang="en-US" sz="370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Results 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b="1658"/>
          <a:stretch>
            <a:fillRect/>
          </a:stretch>
        </p:blipFill>
        <p:spPr>
          <a:xfrm>
            <a:off x="316419" y="2133203"/>
            <a:ext cx="5883525" cy="390999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199" y="2133202"/>
            <a:ext cx="5357382" cy="40314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92</TotalTime>
  <Words>1103</Words>
  <Application>Microsoft Office PowerPoint</Application>
  <PresentationFormat>Widescreen</PresentationFormat>
  <Paragraphs>109</Paragraphs>
  <Slides>24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Roboto</vt:lpstr>
      <vt:lpstr>Raleway</vt:lpstr>
      <vt:lpstr>Algerian</vt:lpstr>
      <vt:lpstr>Roboto Bold</vt:lpstr>
      <vt:lpstr>Roboto Slab</vt:lpstr>
      <vt:lpstr>JasmineUPC</vt:lpstr>
      <vt:lpstr>Times New Roman</vt:lpstr>
      <vt:lpstr>Arial</vt:lpstr>
      <vt:lpstr>School Days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PRIYA PUGALENDHI</dc:creator>
  <cp:lastModifiedBy>PRIYA PUGALENDHI</cp:lastModifiedBy>
  <cp:revision>7</cp:revision>
  <dcterms:created xsi:type="dcterms:W3CDTF">2026-09-27T14:30:48Z</dcterms:created>
  <dcterms:modified xsi:type="dcterms:W3CDTF">2026-09-27T17:24:44Z</dcterms:modified>
</cp:coreProperties>
</file>